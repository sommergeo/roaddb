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0" r:id="rId3"/>
    <p:sldId id="261" r:id="rId4"/>
    <p:sldId id="268" r:id="rId5"/>
    <p:sldId id="257" r:id="rId6"/>
    <p:sldId id="258" r:id="rId7"/>
    <p:sldId id="259" r:id="rId8"/>
    <p:sldId id="263" r:id="rId9"/>
    <p:sldId id="265" r:id="rId10"/>
    <p:sldId id="266" r:id="rId11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DDDD"/>
    <a:srgbClr val="1E3283"/>
    <a:srgbClr val="7A7259"/>
    <a:srgbClr val="B3C3ED"/>
    <a:srgbClr val="D2DCF5"/>
    <a:srgbClr val="C2CFF1"/>
    <a:srgbClr val="E2E9F8"/>
    <a:srgbClr val="F2F5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6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7585D-BAFA-FF79-CFD8-B7CD47B5C3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9756F8-E1E8-4EE3-0AC1-5FAC049D98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47192-FE1D-33BE-14F1-A620D36BD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14209-DDC5-4466-AD2B-718302D4640B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60E3D-38AD-CD41-8149-92DC48C84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1F4A58-70CC-D11C-0261-56E7386F2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26C24-E1B8-470E-8ECE-199277C3367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2002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D9498-90B2-F7EF-C087-9233DDFA6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60148-49A5-6D78-4A4B-2C37C2352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637CF-8704-90F8-D1C3-EB2888490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14209-DDC5-4466-AD2B-718302D4640B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20E7B-36CC-6C2F-A1D6-727A29631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D61E48-6917-F0DB-A39E-B32634758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26C24-E1B8-470E-8ECE-199277C3367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2809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2B06F-0956-12D0-D75C-874D19374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84D4D-1EC1-8BE6-E870-0C69D296B6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4139B-B93C-EAFD-7F06-3D4135AAA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14209-DDC5-4466-AD2B-718302D4640B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61E7A1-9593-B52E-6465-87B9A7E5A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8893E-EB19-2600-B269-09B2A0F72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26C24-E1B8-470E-8ECE-199277C3367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424828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FDC5C-9F16-E169-D027-C6805C253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DF402-43D0-6517-6CFF-2D6B9BA40D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75CD44-FDEF-4CDC-D816-4BAD4380D9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93FCE4-F836-61E9-BA23-E0145DC6A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14209-DDC5-4466-AD2B-718302D4640B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3A2A92-F0F7-324F-FF1B-6E0C7D5A8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D8BC26-89FB-9339-9A28-B04D1B0E0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26C24-E1B8-470E-8ECE-199277C3367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59959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E1AE8-B09B-9165-622F-6872AA37E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8DBECC-8068-535D-FB5E-3CC974E9C1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F5A25-916A-B2F8-29C7-67CA4700A2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996CB2-6036-8620-D037-673FCC7993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86024B-12FF-6D62-51A2-D616A7A1CE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5DFAA1-A45D-AD49-C630-A5E1EF442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14209-DDC5-4466-AD2B-718302D4640B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719A5B-CD3C-C710-C13E-E869646CC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795C0D-599D-FAA6-7125-78CC61EF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26C24-E1B8-470E-8ECE-199277C3367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70154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59C12-D3EC-193B-0A27-6E26BD35E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597D5C-6B80-21B3-0A81-E926B8F18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14209-DDC5-4466-AD2B-718302D4640B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0F8142-7C64-9C84-41A8-660F03507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612DEA-B053-08C1-8130-BADF7527C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26C24-E1B8-470E-8ECE-199277C3367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5463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CB4929-25A8-F1B0-036F-CDD96BFC6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14209-DDC5-4466-AD2B-718302D4640B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CC4268-2F2D-6C6C-B0FF-5F90377A2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B50F5-012C-25E4-1AD4-91AA1296E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26C24-E1B8-470E-8ECE-199277C3367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97172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6774A-E3E0-AE68-9E5D-DCDD407A7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77ED5-5908-0556-299F-D7A062872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94A2DA-1FBB-B847-84F2-D907F76D7C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82E9F7-748A-CF41-CF2F-240CB8AC1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14209-DDC5-4466-AD2B-718302D4640B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0B1FCF-CD35-4399-E4B0-6929FDF3A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1BC4DD-AD27-6A95-9D92-F95022237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26C24-E1B8-470E-8ECE-199277C3367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1344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2BDD5-258E-34E9-0C3B-B6D4F03F2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2DADC8-B44C-8281-258C-08758D02A9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F4BBDF-6255-BBAE-CB76-D656327FE3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A40BBF-4390-A259-C51C-F45B72FE4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14209-DDC5-4466-AD2B-718302D4640B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2317-74BF-C903-5F98-F8CE58B3F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5B2A28-3FAA-95DB-F849-3BDF6BFCC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26C24-E1B8-470E-8ECE-199277C3367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99758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0CBB0-9320-4181-1F22-5F4712615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291DA2-5DE8-4422-0543-924A1DED9D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5844C-3A31-2B5F-0915-3E4F5E6EB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14209-DDC5-4466-AD2B-718302D4640B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E3DCCC-A4F2-8163-868D-A212431B3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7D450-C26B-38CA-23BC-7AEA14B8E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26C24-E1B8-470E-8ECE-199277C3367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25648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794E80-CCB2-41C8-6351-D59ABDF48F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13B89C-6FE5-C2EC-4F63-87C9FC9CD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86B37B-C8F7-2127-A0DA-A6365D546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14209-DDC5-4466-AD2B-718302D4640B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CFB54-7C29-6142-8AA8-0F3A92952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3555B-6FA4-26F1-A63A-5CD7839AC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26C24-E1B8-470E-8ECE-199277C3367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25989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2D218F-3071-57CA-2FB2-83A26AB76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89C130-D380-4028-1437-E7EF89F113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3B2AF1-17FB-EDE1-60F1-4EEE5DED45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A14209-DDC5-4466-AD2B-718302D4640B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4D9653-49C4-1417-6291-DBB42D897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CB9449-F35D-6FE1-8DF4-FD538919CD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926C24-E1B8-470E-8ECE-199277C3367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2817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11/2041-210X.14406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tandfonline.com/doi/abs/10.1080/0067270X.2024.2307790" TargetMode="External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jas.2023.105885" TargetMode="External"/><Relationship Id="rId7" Type="http://schemas.openxmlformats.org/officeDocument/2006/relationships/hyperlink" Target="https://doi.org/10.1016/j.jhevol.2023.103358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jpeg"/><Relationship Id="rId5" Type="http://schemas.openxmlformats.org/officeDocument/2006/relationships/hyperlink" Target="https://doi.org/10.1007/s10963-022-09170-2" TargetMode="Externa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18" Type="http://schemas.openxmlformats.org/officeDocument/2006/relationships/image" Target="../media/image22.svg"/><Relationship Id="rId3" Type="http://schemas.openxmlformats.org/officeDocument/2006/relationships/image" Target="../media/image7.png"/><Relationship Id="rId21" Type="http://schemas.openxmlformats.org/officeDocument/2006/relationships/image" Target="../media/image25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svg"/><Relationship Id="rId20" Type="http://schemas.openxmlformats.org/officeDocument/2006/relationships/image" Target="../media/image24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24" Type="http://schemas.openxmlformats.org/officeDocument/2006/relationships/image" Target="../media/image28.sv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23" Type="http://schemas.openxmlformats.org/officeDocument/2006/relationships/image" Target="../media/image27.png"/><Relationship Id="rId10" Type="http://schemas.openxmlformats.org/officeDocument/2006/relationships/image" Target="../media/image14.svg"/><Relationship Id="rId19" Type="http://schemas.openxmlformats.org/officeDocument/2006/relationships/image" Target="../media/image23.png"/><Relationship Id="rId4" Type="http://schemas.openxmlformats.org/officeDocument/2006/relationships/image" Target="../media/image8.svg"/><Relationship Id="rId9" Type="http://schemas.openxmlformats.org/officeDocument/2006/relationships/image" Target="../media/image13.png"/><Relationship Id="rId14" Type="http://schemas.openxmlformats.org/officeDocument/2006/relationships/image" Target="../media/image18.svg"/><Relationship Id="rId22" Type="http://schemas.openxmlformats.org/officeDocument/2006/relationships/image" Target="../media/image2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3F715E-A7D1-AA9A-8470-EF3D62565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Aims</a:t>
            </a:r>
            <a:endParaRPr lang="en-D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75C573F-6427-E995-6E3B-F595B7D8F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Users query ROAD comfortably through R functions</a:t>
            </a:r>
          </a:p>
          <a:p>
            <a:pPr lvl="1"/>
            <a:r>
              <a:rPr lang="en-US" dirty="0"/>
              <a:t>R scripting conventions ease access</a:t>
            </a:r>
          </a:p>
          <a:p>
            <a:pPr lvl="1"/>
            <a:r>
              <a:rPr lang="en-US" dirty="0"/>
              <a:t>Users do not need to know ROAD’s data structure</a:t>
            </a:r>
          </a:p>
          <a:p>
            <a:pPr lvl="1"/>
            <a:r>
              <a:rPr lang="en-US" dirty="0"/>
              <a:t>Users do not need to know SQL</a:t>
            </a:r>
          </a:p>
          <a:p>
            <a:pPr lvl="1"/>
            <a:r>
              <a:rPr lang="en-US" dirty="0"/>
              <a:t>Functions translate user’s arguments into queries</a:t>
            </a:r>
          </a:p>
          <a:p>
            <a:pPr lvl="1"/>
            <a:r>
              <a:rPr lang="en-US" dirty="0"/>
              <a:t>Output delivered in R’s </a:t>
            </a:r>
            <a:r>
              <a:rPr lang="en-US" dirty="0" err="1"/>
              <a:t>dataframes</a:t>
            </a:r>
            <a:endParaRPr lang="en-US" dirty="0"/>
          </a:p>
          <a:p>
            <a:r>
              <a:rPr lang="en-US" dirty="0"/>
              <a:t>Users can further process the </a:t>
            </a:r>
            <a:r>
              <a:rPr lang="en-US" dirty="0" err="1"/>
              <a:t>dataframes</a:t>
            </a:r>
            <a:r>
              <a:rPr lang="en-US" dirty="0"/>
              <a:t> with their preferred frameworks, packages, functions</a:t>
            </a:r>
          </a:p>
        </p:txBody>
      </p:sp>
    </p:spTree>
    <p:extLst>
      <p:ext uri="{BB962C8B-B14F-4D97-AF65-F5344CB8AC3E}">
        <p14:creationId xmlns:p14="http://schemas.microsoft.com/office/powerpoint/2010/main" val="76461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38DDD-9DA3-8810-BED6-4575B1C19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spatial analysis</a:t>
            </a:r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288D-6F5C-2093-DC5B-89915623F1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Requires:</a:t>
            </a:r>
          </a:p>
          <a:p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y</a:t>
            </a:r>
            <a:r>
              <a:rPr lang="en-US" dirty="0"/>
              <a:t> (point geodata)</a:t>
            </a:r>
          </a:p>
          <a:p>
            <a:pPr marL="0" indent="0">
              <a:buNone/>
            </a:pPr>
            <a:r>
              <a:rPr lang="en-US" dirty="0"/>
              <a:t>Products:</a:t>
            </a:r>
          </a:p>
          <a:p>
            <a:r>
              <a:rPr lang="en-US" dirty="0"/>
              <a:t>Visualization of maps</a:t>
            </a:r>
          </a:p>
          <a:p>
            <a:r>
              <a:rPr lang="en-US" dirty="0"/>
              <a:t>further processing of kernel density estimates, network analysis, etc.</a:t>
            </a:r>
          </a:p>
          <a:p>
            <a:r>
              <a:rPr lang="en-US" dirty="0"/>
              <a:t>Integration with auxiliary data like climate models, environment, etc. for statistical analysis, ecological niche modelling, etc.</a:t>
            </a:r>
          </a:p>
          <a:p>
            <a:pPr marL="0" indent="0">
              <a:buNone/>
            </a:pPr>
            <a:r>
              <a:rPr lang="en-US" dirty="0"/>
              <a:t>Important packages: </a:t>
            </a:r>
          </a:p>
          <a:p>
            <a:r>
              <a:rPr lang="en-US" dirty="0">
                <a:latin typeface="Consolas" panose="020B0609020204030204" pitchFamily="49" charset="0"/>
              </a:rPr>
              <a:t>sf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sp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pastclim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tidysdm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5CA3A6C-8A86-ABBA-8F97-4CB3CCB01C3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8879" y="3328143"/>
            <a:ext cx="4703720" cy="2816043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C5E881-4A02-C80C-C85A-302A2605A04F}"/>
              </a:ext>
            </a:extLst>
          </p:cNvPr>
          <p:cNvSpPr txBox="1"/>
          <p:nvPr/>
        </p:nvSpPr>
        <p:spPr>
          <a:xfrm>
            <a:off x="7208880" y="6144186"/>
            <a:ext cx="47037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 err="1"/>
              <a:t>Leonardi</a:t>
            </a:r>
            <a:r>
              <a:rPr lang="de-DE" sz="1000" dirty="0"/>
              <a:t>, M., Colucci, M., Pozzi, A. V., </a:t>
            </a:r>
            <a:r>
              <a:rPr lang="de-DE" sz="1000" dirty="0" err="1"/>
              <a:t>Scerri</a:t>
            </a:r>
            <a:r>
              <a:rPr lang="de-DE" sz="1000" dirty="0"/>
              <a:t>, E. M. L., &amp; </a:t>
            </a:r>
            <a:r>
              <a:rPr lang="de-DE" sz="1000" dirty="0" err="1"/>
              <a:t>Manica</a:t>
            </a:r>
            <a:r>
              <a:rPr lang="de-DE" sz="1000" dirty="0"/>
              <a:t>, A. (2024). </a:t>
            </a:r>
            <a:r>
              <a:rPr lang="de-DE" sz="1000" i="1" dirty="0" err="1"/>
              <a:t>tidysdm</a:t>
            </a:r>
            <a:r>
              <a:rPr lang="de-DE" sz="1000" dirty="0"/>
              <a:t>: </a:t>
            </a:r>
            <a:r>
              <a:rPr lang="de-DE" sz="1000" dirty="0" err="1"/>
              <a:t>Leveraging</a:t>
            </a:r>
            <a:r>
              <a:rPr lang="de-DE" sz="1000" dirty="0"/>
              <a:t> </a:t>
            </a:r>
            <a:r>
              <a:rPr lang="de-DE" sz="1000" dirty="0" err="1"/>
              <a:t>the</a:t>
            </a:r>
            <a:r>
              <a:rPr lang="de-DE" sz="1000" dirty="0"/>
              <a:t> </a:t>
            </a:r>
            <a:r>
              <a:rPr lang="de-DE" sz="1000" dirty="0" err="1"/>
              <a:t>flexibility</a:t>
            </a:r>
            <a:r>
              <a:rPr lang="de-DE" sz="1000" dirty="0"/>
              <a:t> </a:t>
            </a:r>
            <a:r>
              <a:rPr lang="de-DE" sz="1000" dirty="0" err="1"/>
              <a:t>of</a:t>
            </a:r>
            <a:r>
              <a:rPr lang="de-DE" sz="1000" dirty="0"/>
              <a:t> </a:t>
            </a:r>
            <a:r>
              <a:rPr lang="de-DE" sz="1000" i="1" dirty="0" err="1"/>
              <a:t>tidymodels</a:t>
            </a:r>
            <a:r>
              <a:rPr lang="de-DE" sz="1000" dirty="0"/>
              <a:t> </a:t>
            </a:r>
            <a:r>
              <a:rPr lang="de-DE" sz="1000" dirty="0" err="1"/>
              <a:t>for</a:t>
            </a:r>
            <a:r>
              <a:rPr lang="de-DE" sz="1000" dirty="0"/>
              <a:t> </a:t>
            </a:r>
            <a:r>
              <a:rPr lang="de-DE" sz="1000" dirty="0" err="1"/>
              <a:t>species</a:t>
            </a:r>
            <a:r>
              <a:rPr lang="de-DE" sz="1000" dirty="0"/>
              <a:t> </a:t>
            </a:r>
            <a:r>
              <a:rPr lang="de-DE" sz="1000" dirty="0" err="1"/>
              <a:t>distribution</a:t>
            </a:r>
            <a:r>
              <a:rPr lang="de-DE" sz="1000" dirty="0"/>
              <a:t> </a:t>
            </a:r>
            <a:r>
              <a:rPr lang="de-DE" sz="1000" dirty="0" err="1"/>
              <a:t>modelling</a:t>
            </a:r>
            <a:r>
              <a:rPr lang="de-DE" sz="1000" dirty="0"/>
              <a:t> in R. </a:t>
            </a:r>
            <a:r>
              <a:rPr lang="de-DE" sz="1000" i="1" dirty="0"/>
              <a:t>Methods in Ecology and Evolution</a:t>
            </a:r>
            <a:r>
              <a:rPr lang="de-DE" sz="1000" dirty="0"/>
              <a:t>, 15, 1789–1795. </a:t>
            </a:r>
            <a:r>
              <a:rPr lang="de-DE" sz="1000" dirty="0">
                <a:hlinkClick r:id="rId3"/>
              </a:rPr>
              <a:t>https://doi.org/10.1111/2041-210X.14406</a:t>
            </a:r>
            <a:r>
              <a:rPr lang="de-DE" sz="1000" dirty="0"/>
              <a:t>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AC85EF7-473B-0B4A-2AE6-840B914692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8877" y="84064"/>
            <a:ext cx="4703720" cy="257763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CC4670D-6BF1-55AA-1048-47F2CAC909E3}"/>
              </a:ext>
            </a:extLst>
          </p:cNvPr>
          <p:cNvSpPr txBox="1"/>
          <p:nvPr/>
        </p:nvSpPr>
        <p:spPr>
          <a:xfrm>
            <a:off x="7208876" y="2551837"/>
            <a:ext cx="498312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 err="1">
                <a:effectLst/>
              </a:rPr>
              <a:t>Timbrell</a:t>
            </a:r>
            <a:r>
              <a:rPr lang="en-US" sz="1000" dirty="0">
                <a:effectLst/>
              </a:rPr>
              <a:t>, L. (2024). Ecology and demography of early Homo sapiens: A synthesis of archaeological and climatic data from eastern Africa. </a:t>
            </a:r>
            <a:r>
              <a:rPr lang="en-US" sz="1000" i="1" dirty="0">
                <a:effectLst/>
              </a:rPr>
              <a:t>Azania: Archaeological Research in Africa</a:t>
            </a:r>
            <a:r>
              <a:rPr lang="en-US" sz="1000" dirty="0">
                <a:effectLst/>
              </a:rPr>
              <a:t>, </a:t>
            </a:r>
            <a:r>
              <a:rPr lang="en-US" sz="1000" i="1" dirty="0">
                <a:effectLst/>
              </a:rPr>
              <a:t>59</a:t>
            </a:r>
            <a:r>
              <a:rPr lang="en-US" sz="1000" dirty="0">
                <a:effectLst/>
              </a:rPr>
              <a:t>(1), 76–110. </a:t>
            </a:r>
            <a:r>
              <a:rPr lang="en-US" sz="1000" dirty="0">
                <a:effectLst/>
                <a:hlinkClick r:id="rId5"/>
              </a:rPr>
              <a:t>https://www.tandfonline.com/doi/abs/10.1080/0067270X.2024.2307790</a:t>
            </a:r>
            <a:endParaRPr lang="en-US" sz="1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56221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5CBC5-2401-2A6D-7D6B-7EDA416A2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temporal analysis</a:t>
            </a:r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94720-CFD9-297B-B0F4-7D45194612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Requires: </a:t>
            </a:r>
          </a:p>
          <a:p>
            <a:r>
              <a:rPr lang="en-US" dirty="0">
                <a:latin typeface="Consolas" panose="020B0609020204030204" pitchFamily="49" charset="0"/>
              </a:rPr>
              <a:t>age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age_stdev_min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age_stdev_max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dating_method</a:t>
            </a:r>
            <a:r>
              <a:rPr lang="en-US" dirty="0"/>
              <a:t>, y, to perform dedicated age modelling (e.g. radiocarbon calibration)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geolayer</a:t>
            </a:r>
            <a:r>
              <a:rPr lang="en-US" dirty="0"/>
              <a:t> for </a:t>
            </a:r>
            <a:r>
              <a:rPr lang="en-US" dirty="0" err="1"/>
              <a:t>bayesian</a:t>
            </a:r>
            <a:r>
              <a:rPr lang="en-US" dirty="0"/>
              <a:t> modelling</a:t>
            </a:r>
          </a:p>
          <a:p>
            <a:r>
              <a:rPr lang="en-US" dirty="0"/>
              <a:t>Important packages: </a:t>
            </a:r>
            <a:r>
              <a:rPr lang="en-US" dirty="0" err="1">
                <a:latin typeface="Consolas" panose="020B0609020204030204" pitchFamily="49" charset="0"/>
              </a:rPr>
              <a:t>rcarbon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archSeries</a:t>
            </a:r>
            <a:endParaRPr lang="en-DE" dirty="0"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11F58A-A55B-359B-2DF0-07182115F8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0668" y="167202"/>
            <a:ext cx="4555120" cy="20962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984147-0B9D-02BC-D4E2-7F949BE9E360}"/>
              </a:ext>
            </a:extLst>
          </p:cNvPr>
          <p:cNvSpPr txBox="1"/>
          <p:nvPr/>
        </p:nvSpPr>
        <p:spPr>
          <a:xfrm>
            <a:off x="7450667" y="2263457"/>
            <a:ext cx="45551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effectLst/>
              </a:rPr>
              <a:t>Kelly, R. L., Mackie, M. E., &amp; Kandel, A. W. (2023). Rapid increase in production of symbolic artifacts after 45,000 years ago is not a consequence of </a:t>
            </a:r>
            <a:r>
              <a:rPr lang="en-US" sz="1000" dirty="0" err="1">
                <a:effectLst/>
              </a:rPr>
              <a:t>taphonomic</a:t>
            </a:r>
            <a:r>
              <a:rPr lang="en-US" sz="1000" dirty="0">
                <a:effectLst/>
              </a:rPr>
              <a:t> bias. </a:t>
            </a:r>
            <a:r>
              <a:rPr lang="en-US" sz="1000" i="1" dirty="0">
                <a:effectLst/>
              </a:rPr>
              <a:t>Journal of Archaeological Science</a:t>
            </a:r>
            <a:r>
              <a:rPr lang="en-US" sz="1000" dirty="0">
                <a:effectLst/>
              </a:rPr>
              <a:t>, </a:t>
            </a:r>
            <a:r>
              <a:rPr lang="en-US" sz="1000" i="1" dirty="0">
                <a:effectLst/>
              </a:rPr>
              <a:t>160</a:t>
            </a:r>
            <a:r>
              <a:rPr lang="en-US" sz="1000" dirty="0">
                <a:effectLst/>
              </a:rPr>
              <a:t>, 105885. </a:t>
            </a:r>
            <a:r>
              <a:rPr lang="en-US" sz="1000" dirty="0">
                <a:effectLst/>
                <a:hlinkClick r:id="rId3"/>
              </a:rPr>
              <a:t>https://doi.org/10.1016/j.jas.2023.105885</a:t>
            </a:r>
            <a:endParaRPr lang="en-US" sz="1000" dirty="0">
              <a:effectLst/>
            </a:endParaRPr>
          </a:p>
        </p:txBody>
      </p:sp>
      <p:pic>
        <p:nvPicPr>
          <p:cNvPr id="1026" name="Picture 2" descr="Fig. 10">
            <a:extLst>
              <a:ext uri="{FF2B5EF4-FFF2-40B4-BE49-F238E27FC236}">
                <a16:creationId xmlns:a16="http://schemas.microsoft.com/office/drawing/2014/main" id="{110DBFE5-1C95-964D-911F-48F2AFA2B5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0753" y="2971343"/>
            <a:ext cx="2595034" cy="3033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90261A-BDD8-EFED-27B6-1579C03A1326}"/>
              </a:ext>
            </a:extLst>
          </p:cNvPr>
          <p:cNvSpPr txBox="1"/>
          <p:nvPr/>
        </p:nvSpPr>
        <p:spPr>
          <a:xfrm>
            <a:off x="9410753" y="5934670"/>
            <a:ext cx="27812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 err="1">
                <a:effectLst/>
              </a:rPr>
              <a:t>Dapschauskas</a:t>
            </a:r>
            <a:r>
              <a:rPr lang="en-US" sz="900" dirty="0">
                <a:effectLst/>
              </a:rPr>
              <a:t>, R., </a:t>
            </a:r>
            <a:r>
              <a:rPr lang="en-US" sz="900" dirty="0" err="1">
                <a:effectLst/>
              </a:rPr>
              <a:t>Göden</a:t>
            </a:r>
            <a:r>
              <a:rPr lang="en-US" sz="900" dirty="0">
                <a:effectLst/>
              </a:rPr>
              <a:t>, M. B., Sommer, C., &amp; Kandel, A. W. (2022). The Emergence of Habitual Ochre Use in Africa and its Significance for The Development of Ritual Behavior During The Middle Stone Age. </a:t>
            </a:r>
            <a:r>
              <a:rPr lang="en-US" sz="900" i="1" dirty="0">
                <a:effectLst/>
              </a:rPr>
              <a:t>Journal of World Prehistory</a:t>
            </a:r>
            <a:r>
              <a:rPr lang="en-US" sz="900" dirty="0">
                <a:effectLst/>
              </a:rPr>
              <a:t>, </a:t>
            </a:r>
            <a:r>
              <a:rPr lang="en-US" sz="900" i="1" dirty="0">
                <a:effectLst/>
              </a:rPr>
              <a:t>35</a:t>
            </a:r>
            <a:r>
              <a:rPr lang="en-US" sz="900" dirty="0">
                <a:effectLst/>
              </a:rPr>
              <a:t>(3), 233–319. </a:t>
            </a:r>
            <a:r>
              <a:rPr lang="en-US" sz="900" dirty="0">
                <a:effectLst/>
                <a:hlinkClick r:id="rId5"/>
              </a:rPr>
              <a:t>https://doi.org/10.1007/s10963-022-09170-2</a:t>
            </a:r>
            <a:endParaRPr lang="en-US" sz="900" dirty="0">
              <a:effectLst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1F8A6D9-0F48-26D2-DFC8-31B7F8A699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789" y="3402634"/>
            <a:ext cx="3415048" cy="252591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2BD844E-2932-9A28-4447-7C42DCDDA139}"/>
              </a:ext>
            </a:extLst>
          </p:cNvPr>
          <p:cNvSpPr txBox="1"/>
          <p:nvPr/>
        </p:nvSpPr>
        <p:spPr>
          <a:xfrm>
            <a:off x="5921787" y="5957957"/>
            <a:ext cx="341504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effectLst/>
              </a:rPr>
              <a:t>Scerri, E. M. L., &amp; Will, M. (2023). The revolution that still isn’t: The origins of behavioral complexity in Homo sapiens. </a:t>
            </a:r>
            <a:r>
              <a:rPr lang="en-US" sz="1000" i="1" dirty="0">
                <a:effectLst/>
              </a:rPr>
              <a:t>Journal of Human Evolution</a:t>
            </a:r>
            <a:r>
              <a:rPr lang="en-US" sz="1000" dirty="0">
                <a:effectLst/>
              </a:rPr>
              <a:t>, </a:t>
            </a:r>
            <a:r>
              <a:rPr lang="en-US" sz="1000" i="1" dirty="0">
                <a:effectLst/>
              </a:rPr>
              <a:t>179</a:t>
            </a:r>
            <a:r>
              <a:rPr lang="en-US" sz="1000" dirty="0">
                <a:effectLst/>
              </a:rPr>
              <a:t>, 103358. </a:t>
            </a:r>
            <a:r>
              <a:rPr lang="en-US" sz="1000" dirty="0">
                <a:effectLst/>
                <a:hlinkClick r:id="rId7"/>
              </a:rPr>
              <a:t>https://doi.org/10.1016/j.jhevol.2023.103358</a:t>
            </a:r>
            <a:endParaRPr lang="en-US" sz="1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97576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61CCA20-B52D-8DA1-3622-C7AB33635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381" y="6943770"/>
            <a:ext cx="9011908" cy="1209844"/>
          </a:xfrm>
          <a:prstGeom prst="rect">
            <a:avLst/>
          </a:prstGeom>
        </p:spPr>
      </p:pic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DC23220F-7A18-B523-4793-4FC184C967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122255" y="251399"/>
            <a:ext cx="6765095" cy="5831979"/>
          </a:xfrm>
          <a:prstGeom prst="triangle">
            <a:avLst/>
          </a:prstGeom>
          <a:gradFill flip="none" rotWithShape="1">
            <a:gsLst>
              <a:gs pos="0">
                <a:srgbClr val="B3C3ED"/>
              </a:gs>
              <a:gs pos="50000">
                <a:srgbClr val="D2DCF5"/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17" name="Graphic 16" descr="Layers Design with solid fill">
            <a:extLst>
              <a:ext uri="{FF2B5EF4-FFF2-40B4-BE49-F238E27FC236}">
                <a16:creationId xmlns:a16="http://schemas.microsoft.com/office/drawing/2014/main" id="{4BE4F183-C9E4-9476-DB2C-72ED0F41FA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07848" y="2515993"/>
            <a:ext cx="1393910" cy="1393910"/>
          </a:xfrm>
          <a:prstGeom prst="rect">
            <a:avLst/>
          </a:prstGeom>
        </p:spPr>
      </p:pic>
      <p:pic>
        <p:nvPicPr>
          <p:cNvPr id="18" name="Graphic 17" descr="Hourglass Finished with solid fill">
            <a:extLst>
              <a:ext uri="{FF2B5EF4-FFF2-40B4-BE49-F238E27FC236}">
                <a16:creationId xmlns:a16="http://schemas.microsoft.com/office/drawing/2014/main" id="{9896010B-3508-0274-AFB3-63FD5A027E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87505" y="4600843"/>
            <a:ext cx="1080000" cy="1080000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0F6931C-7608-4D16-5F99-1AC43AE6D81F}"/>
              </a:ext>
            </a:extLst>
          </p:cNvPr>
          <p:cNvCxnSpPr>
            <a:cxnSpLocks/>
          </p:cNvCxnSpPr>
          <p:nvPr/>
        </p:nvCxnSpPr>
        <p:spPr>
          <a:xfrm flipH="1">
            <a:off x="1304649" y="2295607"/>
            <a:ext cx="7377878" cy="73761"/>
          </a:xfrm>
          <a:prstGeom prst="line">
            <a:avLst/>
          </a:prstGeom>
          <a:ln w="38100">
            <a:solidFill>
              <a:srgbClr val="1E328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7824D2A-3B64-4161-071F-AC520865B7E1}"/>
              </a:ext>
            </a:extLst>
          </p:cNvPr>
          <p:cNvCxnSpPr>
            <a:cxnSpLocks/>
          </p:cNvCxnSpPr>
          <p:nvPr/>
        </p:nvCxnSpPr>
        <p:spPr>
          <a:xfrm flipH="1">
            <a:off x="1304649" y="4110949"/>
            <a:ext cx="8420465" cy="0"/>
          </a:xfrm>
          <a:prstGeom prst="line">
            <a:avLst/>
          </a:prstGeom>
          <a:ln w="38100">
            <a:solidFill>
              <a:srgbClr val="1E328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8F3BFA2F-2E81-8BBE-1883-C90878AD0C43}"/>
              </a:ext>
            </a:extLst>
          </p:cNvPr>
          <p:cNvSpPr txBox="1"/>
          <p:nvPr/>
        </p:nvSpPr>
        <p:spPr>
          <a:xfrm>
            <a:off x="1304649" y="1043167"/>
            <a:ext cx="418635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3600" dirty="0">
                <a:latin typeface="Lato" panose="020F0502020204030203" pitchFamily="34" charset="0"/>
              </a:rPr>
              <a:t>LOD1: Localities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0CB53C-17BC-8AAB-89AF-C190CBF0902D}"/>
              </a:ext>
            </a:extLst>
          </p:cNvPr>
          <p:cNvSpPr txBox="1"/>
          <p:nvPr/>
        </p:nvSpPr>
        <p:spPr>
          <a:xfrm>
            <a:off x="1304648" y="2888749"/>
            <a:ext cx="4228754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3600" dirty="0">
                <a:latin typeface="Lato" panose="020F0502020204030203" pitchFamily="34" charset="0"/>
              </a:rPr>
              <a:t>LOD2: Assemblages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E46798-F73A-F6F7-83CB-66724E34315B}"/>
              </a:ext>
            </a:extLst>
          </p:cNvPr>
          <p:cNvSpPr txBox="1"/>
          <p:nvPr/>
        </p:nvSpPr>
        <p:spPr>
          <a:xfrm>
            <a:off x="1304647" y="4450547"/>
            <a:ext cx="4681682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3600" dirty="0">
                <a:latin typeface="Lato" panose="020F0502020204030203" pitchFamily="34" charset="0"/>
              </a:rPr>
              <a:t>LOD3: Dates &amp;</a:t>
            </a:r>
            <a:br>
              <a:rPr lang="en-US" sz="3600" dirty="0">
                <a:latin typeface="Lato" panose="020F0502020204030203" pitchFamily="34" charset="0"/>
              </a:rPr>
            </a:br>
            <a:r>
              <a:rPr lang="en-US" sz="3600" dirty="0">
                <a:latin typeface="Lato" panose="020F0502020204030203" pitchFamily="34" charset="0"/>
              </a:rPr>
              <a:t>Publications</a:t>
            </a:r>
          </a:p>
        </p:txBody>
      </p:sp>
      <p:pic>
        <p:nvPicPr>
          <p:cNvPr id="37" name="Graphic 36" descr="Skull with solid fill">
            <a:extLst>
              <a:ext uri="{FF2B5EF4-FFF2-40B4-BE49-F238E27FC236}">
                <a16:creationId xmlns:a16="http://schemas.microsoft.com/office/drawing/2014/main" id="{4FA2FCBA-078C-03DB-A984-ADDE7EB8D6A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1149331">
            <a:off x="7903534" y="2276635"/>
            <a:ext cx="720000" cy="720000"/>
          </a:xfrm>
          <a:prstGeom prst="rect">
            <a:avLst/>
          </a:prstGeom>
        </p:spPr>
      </p:pic>
      <p:pic>
        <p:nvPicPr>
          <p:cNvPr id="39" name="Graphic 38" descr="Prehistoric Tool with solid fill">
            <a:extLst>
              <a:ext uri="{FF2B5EF4-FFF2-40B4-BE49-F238E27FC236}">
                <a16:creationId xmlns:a16="http://schemas.microsoft.com/office/drawing/2014/main" id="{1A31CE2F-2094-520C-066F-63559FBAB12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98598" y="2332487"/>
            <a:ext cx="720000" cy="720000"/>
          </a:xfrm>
          <a:prstGeom prst="rect">
            <a:avLst/>
          </a:prstGeom>
        </p:spPr>
      </p:pic>
      <p:pic>
        <p:nvPicPr>
          <p:cNvPr id="41" name="Graphic 40" descr="Leaf with solid fill">
            <a:extLst>
              <a:ext uri="{FF2B5EF4-FFF2-40B4-BE49-F238E27FC236}">
                <a16:creationId xmlns:a16="http://schemas.microsoft.com/office/drawing/2014/main" id="{CD18F2A8-E7FE-0065-93C6-36FE453881F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081008" y="3501352"/>
            <a:ext cx="540000" cy="540000"/>
          </a:xfrm>
          <a:prstGeom prst="rect">
            <a:avLst/>
          </a:prstGeom>
        </p:spPr>
      </p:pic>
      <p:pic>
        <p:nvPicPr>
          <p:cNvPr id="43" name="Graphic 42" descr="Bear with solid fill">
            <a:extLst>
              <a:ext uri="{FF2B5EF4-FFF2-40B4-BE49-F238E27FC236}">
                <a16:creationId xmlns:a16="http://schemas.microsoft.com/office/drawing/2014/main" id="{37582AD7-CB81-2F22-95BF-04627FD019D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20848492">
            <a:off x="6240670" y="3382500"/>
            <a:ext cx="720000" cy="7200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7B01130-1399-5EF6-61EE-3E5393725782}"/>
              </a:ext>
            </a:extLst>
          </p:cNvPr>
          <p:cNvGrpSpPr/>
          <p:nvPr/>
        </p:nvGrpSpPr>
        <p:grpSpPr>
          <a:xfrm>
            <a:off x="6779859" y="833093"/>
            <a:ext cx="1440000" cy="1440000"/>
            <a:chOff x="6575530" y="437060"/>
            <a:chExt cx="1858547" cy="1858547"/>
          </a:xfrm>
        </p:grpSpPr>
        <p:pic>
          <p:nvPicPr>
            <p:cNvPr id="15" name="Graphic 14" descr="Earth globe: Africa and Europe with solid fill">
              <a:extLst>
                <a:ext uri="{FF2B5EF4-FFF2-40B4-BE49-F238E27FC236}">
                  <a16:creationId xmlns:a16="http://schemas.microsoft.com/office/drawing/2014/main" id="{2175CF05-CB85-EAAD-7528-11BCDF418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6575530" y="437060"/>
              <a:ext cx="1858547" cy="1858547"/>
            </a:xfrm>
            <a:prstGeom prst="rect">
              <a:avLst/>
            </a:prstGeom>
          </p:spPr>
        </p:pic>
        <p:pic>
          <p:nvPicPr>
            <p:cNvPr id="16" name="Graphic 15" descr="Marker with solid fill">
              <a:extLst>
                <a:ext uri="{FF2B5EF4-FFF2-40B4-BE49-F238E27FC236}">
                  <a16:creationId xmlns:a16="http://schemas.microsoft.com/office/drawing/2014/main" id="{8CA7285C-4CEE-0D29-CE8D-BCC21CA9A7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7649475" y="772958"/>
              <a:ext cx="360000" cy="360000"/>
            </a:xfrm>
            <a:prstGeom prst="rect">
              <a:avLst/>
            </a:prstGeom>
          </p:spPr>
        </p:pic>
        <p:pic>
          <p:nvPicPr>
            <p:cNvPr id="44" name="Graphic 43" descr="Marker with solid fill">
              <a:extLst>
                <a:ext uri="{FF2B5EF4-FFF2-40B4-BE49-F238E27FC236}">
                  <a16:creationId xmlns:a16="http://schemas.microsoft.com/office/drawing/2014/main" id="{7F9F2111-D592-C3CA-EE75-527CC94272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7382775" y="1534282"/>
              <a:ext cx="360000" cy="360000"/>
            </a:xfrm>
            <a:prstGeom prst="rect">
              <a:avLst/>
            </a:prstGeom>
          </p:spPr>
        </p:pic>
        <p:pic>
          <p:nvPicPr>
            <p:cNvPr id="45" name="Graphic 44" descr="Marker with solid fill">
              <a:extLst>
                <a:ext uri="{FF2B5EF4-FFF2-40B4-BE49-F238E27FC236}">
                  <a16:creationId xmlns:a16="http://schemas.microsoft.com/office/drawing/2014/main" id="{3670368E-0AA5-11F9-D297-2F1C2FDD9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7088186" y="1135306"/>
              <a:ext cx="360000" cy="360000"/>
            </a:xfrm>
            <a:prstGeom prst="rect">
              <a:avLst/>
            </a:prstGeom>
          </p:spPr>
        </p:pic>
      </p:grpSp>
      <p:pic>
        <p:nvPicPr>
          <p:cNvPr id="3" name="Graphic 2" descr="Books with solid fill">
            <a:extLst>
              <a:ext uri="{FF2B5EF4-FFF2-40B4-BE49-F238E27FC236}">
                <a16:creationId xmlns:a16="http://schemas.microsoft.com/office/drawing/2014/main" id="{1119AA37-9FD4-FB59-BB5F-B1910FABDDE7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422045" y="4600843"/>
            <a:ext cx="1080000" cy="1080000"/>
          </a:xfrm>
          <a:prstGeom prst="rect">
            <a:avLst/>
          </a:prstGeom>
        </p:spPr>
      </p:pic>
      <p:pic>
        <p:nvPicPr>
          <p:cNvPr id="6" name="Graphic 5" descr="Bonfire with solid fill">
            <a:extLst>
              <a:ext uri="{FF2B5EF4-FFF2-40B4-BE49-F238E27FC236}">
                <a16:creationId xmlns:a16="http://schemas.microsoft.com/office/drawing/2014/main" id="{47898A4F-FE3B-8536-1736-4FCBE2C15C5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970449" y="3007581"/>
            <a:ext cx="540000" cy="540000"/>
          </a:xfrm>
          <a:prstGeom prst="rect">
            <a:avLst/>
          </a:prstGeom>
        </p:spPr>
      </p:pic>
      <p:pic>
        <p:nvPicPr>
          <p:cNvPr id="11" name="Graphic 10" descr="Shell with solid fill">
            <a:extLst>
              <a:ext uri="{FF2B5EF4-FFF2-40B4-BE49-F238E27FC236}">
                <a16:creationId xmlns:a16="http://schemas.microsoft.com/office/drawing/2014/main" id="{1A3A7FCB-6671-D243-F034-EA574D41608D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195617" y="2941075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085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FE21841-BD35-E3E3-647B-953CE6E300BA}"/>
              </a:ext>
            </a:extLst>
          </p:cNvPr>
          <p:cNvSpPr/>
          <p:nvPr/>
        </p:nvSpPr>
        <p:spPr>
          <a:xfrm>
            <a:off x="838200" y="1957756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Locality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road_get_localities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sz="1400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1EAFA6-DD6B-CE52-6E8B-457441BFA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LOD-related inheritance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498D44-E53F-234A-DC76-62ED316CDDD5}"/>
              </a:ext>
            </a:extLst>
          </p:cNvPr>
          <p:cNvSpPr/>
          <p:nvPr/>
        </p:nvSpPr>
        <p:spPr>
          <a:xfrm>
            <a:off x="4747846" y="1957756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Assemblage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400" dirty="0" err="1">
                <a:solidFill>
                  <a:schemeClr val="tx1"/>
                </a:solidFill>
              </a:rPr>
              <a:t>road_get_assemblages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37D16A-9607-E281-EFC3-7CFF10866EEF}"/>
              </a:ext>
            </a:extLst>
          </p:cNvPr>
          <p:cNvSpPr/>
          <p:nvPr/>
        </p:nvSpPr>
        <p:spPr>
          <a:xfrm>
            <a:off x="8657492" y="1957756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Date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400" dirty="0" err="1">
                <a:solidFill>
                  <a:schemeClr val="tx1"/>
                </a:solidFill>
              </a:rPr>
              <a:t>road_get_dates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FF9A8537-B46A-3AF6-2403-336FF371C1A2}"/>
              </a:ext>
            </a:extLst>
          </p:cNvPr>
          <p:cNvSpPr/>
          <p:nvPr/>
        </p:nvSpPr>
        <p:spPr>
          <a:xfrm>
            <a:off x="838199" y="1301265"/>
            <a:ext cx="10515599" cy="559803"/>
          </a:xfrm>
          <a:prstGeom prst="left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Inheritance of arguments and outputs across Levels Of Detail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F8B607-C80D-AA3A-91EB-5E7577918A29}"/>
              </a:ext>
            </a:extLst>
          </p:cNvPr>
          <p:cNvSpPr txBox="1"/>
          <p:nvPr/>
        </p:nvSpPr>
        <p:spPr>
          <a:xfrm>
            <a:off x="838199" y="3188680"/>
            <a:ext cx="2696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locality </a:t>
            </a:r>
            <a:r>
              <a:rPr lang="en-DE" dirty="0"/>
              <a:t>≙</a:t>
            </a:r>
            <a:r>
              <a:rPr lang="en-US" dirty="0"/>
              <a:t> 1 row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636E46-5301-2777-122E-C298A4949983}"/>
              </a:ext>
            </a:extLst>
          </p:cNvPr>
          <p:cNvSpPr txBox="1"/>
          <p:nvPr/>
        </p:nvSpPr>
        <p:spPr>
          <a:xfrm>
            <a:off x="4747844" y="3188680"/>
            <a:ext cx="2696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locality </a:t>
            </a:r>
            <a:r>
              <a:rPr lang="en-DE" dirty="0"/>
              <a:t>≙</a:t>
            </a:r>
            <a:r>
              <a:rPr lang="en-US" dirty="0"/>
              <a:t> n rows</a:t>
            </a:r>
          </a:p>
          <a:p>
            <a:pPr algn="ctr"/>
            <a:r>
              <a:rPr lang="en-US" dirty="0"/>
              <a:t>1 assemblage </a:t>
            </a:r>
            <a:r>
              <a:rPr lang="en-DE" dirty="0"/>
              <a:t>≙</a:t>
            </a:r>
            <a:r>
              <a:rPr lang="en-US" dirty="0"/>
              <a:t> 1 row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F2BDC3-952A-11CC-0DCE-1EC8E2485BF3}"/>
              </a:ext>
            </a:extLst>
          </p:cNvPr>
          <p:cNvSpPr txBox="1"/>
          <p:nvPr/>
        </p:nvSpPr>
        <p:spPr>
          <a:xfrm>
            <a:off x="8657489" y="3188680"/>
            <a:ext cx="26963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 locality </a:t>
            </a:r>
            <a:r>
              <a:rPr lang="en-DE" dirty="0"/>
              <a:t>≙</a:t>
            </a:r>
            <a:r>
              <a:rPr lang="en-US" dirty="0"/>
              <a:t> n rows</a:t>
            </a:r>
          </a:p>
          <a:p>
            <a:pPr algn="ctr"/>
            <a:r>
              <a:rPr lang="en-US" dirty="0"/>
              <a:t>1 assemblage </a:t>
            </a:r>
            <a:r>
              <a:rPr lang="en-DE" dirty="0"/>
              <a:t>≙</a:t>
            </a:r>
            <a:r>
              <a:rPr lang="en-US" dirty="0"/>
              <a:t> m rows</a:t>
            </a:r>
          </a:p>
          <a:p>
            <a:pPr algn="ctr"/>
            <a:r>
              <a:rPr lang="en-US" dirty="0"/>
              <a:t>1 date </a:t>
            </a:r>
            <a:r>
              <a:rPr lang="en-DE" dirty="0"/>
              <a:t>≙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x</a:t>
            </a:r>
            <a:r>
              <a:rPr lang="en-US" dirty="0"/>
              <a:t> row</a:t>
            </a:r>
            <a:endParaRPr lang="en-DE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0477D25-D512-9088-4791-204C342F67B2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3534508" y="2497018"/>
            <a:ext cx="12133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A43C4F6-4776-61FB-69E6-08810C1524F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444154" y="2497018"/>
            <a:ext cx="12133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E0B67EF9-AA6D-7AFB-D0AD-47C8C91A9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3293763"/>
              </p:ext>
            </p:extLst>
          </p:nvPr>
        </p:nvGraphicFramePr>
        <p:xfrm>
          <a:off x="838199" y="4114914"/>
          <a:ext cx="2696308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96308">
                  <a:extLst>
                    <a:ext uri="{9D8B030D-6E8A-4147-A177-3AD203B41FA5}">
                      <a16:colId xmlns:a16="http://schemas.microsoft.com/office/drawing/2014/main" val="29020357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Loc.</a:t>
                      </a:r>
                      <a:endParaRPr lang="en-DE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7678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Locality A</a:t>
                      </a:r>
                      <a:endParaRPr lang="en-DE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483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Locality B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328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Locality C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75327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Locality D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495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153232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A286117-76BB-7F2A-C93B-1C04A06112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507572"/>
              </p:ext>
            </p:extLst>
          </p:nvPr>
        </p:nvGraphicFramePr>
        <p:xfrm>
          <a:off x="4747844" y="4112010"/>
          <a:ext cx="2696308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8154">
                  <a:extLst>
                    <a:ext uri="{9D8B030D-6E8A-4147-A177-3AD203B41FA5}">
                      <a16:colId xmlns:a16="http://schemas.microsoft.com/office/drawing/2014/main" val="2902035751"/>
                    </a:ext>
                  </a:extLst>
                </a:gridCol>
                <a:gridCol w="1348154">
                  <a:extLst>
                    <a:ext uri="{9D8B030D-6E8A-4147-A177-3AD203B41FA5}">
                      <a16:colId xmlns:a16="http://schemas.microsoft.com/office/drawing/2014/main" val="26000091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Loc.</a:t>
                      </a:r>
                      <a:endParaRPr lang="en-DE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Ass.</a:t>
                      </a:r>
                      <a:endParaRPr lang="en-DE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7678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Locality A</a:t>
                      </a:r>
                      <a:endParaRPr lang="en-DE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DE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483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Locality A</a:t>
                      </a:r>
                      <a:endParaRPr lang="en-DE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DE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4328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Locality B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75327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Locality B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495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153232"/>
                  </a:ext>
                </a:extLst>
              </a:tr>
            </a:tbl>
          </a:graphicData>
        </a:graphic>
      </p:graphicFrame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23CA72F-513F-B7BB-0AF9-6EFC0DF06F13}"/>
              </a:ext>
            </a:extLst>
          </p:cNvPr>
          <p:cNvCxnSpPr>
            <a:cxnSpLocks/>
          </p:cNvCxnSpPr>
          <p:nvPr/>
        </p:nvCxnSpPr>
        <p:spPr>
          <a:xfrm>
            <a:off x="3534507" y="4677511"/>
            <a:ext cx="12133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81A2EC4-4D6D-11CC-7300-8539ED776011}"/>
              </a:ext>
            </a:extLst>
          </p:cNvPr>
          <p:cNvCxnSpPr>
            <a:cxnSpLocks/>
          </p:cNvCxnSpPr>
          <p:nvPr/>
        </p:nvCxnSpPr>
        <p:spPr>
          <a:xfrm>
            <a:off x="3534507" y="4677511"/>
            <a:ext cx="1213337" cy="375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1272C2FC-0456-8129-1E8D-FBEAB63A84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946356"/>
              </p:ext>
            </p:extLst>
          </p:nvPr>
        </p:nvGraphicFramePr>
        <p:xfrm>
          <a:off x="8149001" y="4112010"/>
          <a:ext cx="3713283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37761">
                  <a:extLst>
                    <a:ext uri="{9D8B030D-6E8A-4147-A177-3AD203B41FA5}">
                      <a16:colId xmlns:a16="http://schemas.microsoft.com/office/drawing/2014/main" val="2902035751"/>
                    </a:ext>
                  </a:extLst>
                </a:gridCol>
                <a:gridCol w="1237761">
                  <a:extLst>
                    <a:ext uri="{9D8B030D-6E8A-4147-A177-3AD203B41FA5}">
                      <a16:colId xmlns:a16="http://schemas.microsoft.com/office/drawing/2014/main" val="2600009124"/>
                    </a:ext>
                  </a:extLst>
                </a:gridCol>
                <a:gridCol w="1237761">
                  <a:extLst>
                    <a:ext uri="{9D8B030D-6E8A-4147-A177-3AD203B41FA5}">
                      <a16:colId xmlns:a16="http://schemas.microsoft.com/office/drawing/2014/main" val="22874627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Loc.</a:t>
                      </a:r>
                      <a:endParaRPr lang="en-DE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Ass.</a:t>
                      </a:r>
                      <a:endParaRPr lang="en-DE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Date</a:t>
                      </a:r>
                      <a:endParaRPr lang="en-DE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7678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Locality A</a:t>
                      </a:r>
                      <a:endParaRPr lang="en-DE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DE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20-25 ka</a:t>
                      </a:r>
                      <a:endParaRPr lang="en-DE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483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Locality A</a:t>
                      </a:r>
                      <a:endParaRPr lang="en-DE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DE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19-39 ka</a:t>
                      </a:r>
                      <a:endParaRPr lang="en-DE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4328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Locality A</a:t>
                      </a:r>
                      <a:endParaRPr lang="en-DE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DE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25-35 ka</a:t>
                      </a:r>
                      <a:endParaRPr lang="en-DE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75327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Locality B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60-75 ka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495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153232"/>
                  </a:ext>
                </a:extLst>
              </a:tr>
            </a:tbl>
          </a:graphicData>
        </a:graphic>
      </p:graphicFrame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34CEA3D-B387-7BCE-0195-C33E6C732067}"/>
              </a:ext>
            </a:extLst>
          </p:cNvPr>
          <p:cNvCxnSpPr>
            <a:cxnSpLocks/>
          </p:cNvCxnSpPr>
          <p:nvPr/>
        </p:nvCxnSpPr>
        <p:spPr>
          <a:xfrm>
            <a:off x="7444154" y="4677511"/>
            <a:ext cx="70484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52282DE-9ABD-22C6-A12A-AE6D6FC5D8D4}"/>
              </a:ext>
            </a:extLst>
          </p:cNvPr>
          <p:cNvCxnSpPr>
            <a:cxnSpLocks/>
          </p:cNvCxnSpPr>
          <p:nvPr/>
        </p:nvCxnSpPr>
        <p:spPr>
          <a:xfrm>
            <a:off x="7444152" y="4677511"/>
            <a:ext cx="704847" cy="375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Graphic 12" descr="Layers Design with solid fill">
            <a:extLst>
              <a:ext uri="{FF2B5EF4-FFF2-40B4-BE49-F238E27FC236}">
                <a16:creationId xmlns:a16="http://schemas.microsoft.com/office/drawing/2014/main" id="{18C2FA6A-D70E-51E3-74F0-B7A93C4E7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5367" y="2149591"/>
            <a:ext cx="432000" cy="432000"/>
          </a:xfrm>
          <a:prstGeom prst="rect">
            <a:avLst/>
          </a:prstGeom>
        </p:spPr>
      </p:pic>
      <p:pic>
        <p:nvPicPr>
          <p:cNvPr id="24" name="Graphic 23" descr="Marker with solid fill">
            <a:extLst>
              <a:ext uri="{FF2B5EF4-FFF2-40B4-BE49-F238E27FC236}">
                <a16:creationId xmlns:a16="http://schemas.microsoft.com/office/drawing/2014/main" id="{D8D2C744-AAE7-49B5-BC62-12A64D7C74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96014" y="2149591"/>
            <a:ext cx="432000" cy="432000"/>
          </a:xfrm>
          <a:prstGeom prst="rect">
            <a:avLst/>
          </a:prstGeom>
        </p:spPr>
      </p:pic>
      <p:pic>
        <p:nvPicPr>
          <p:cNvPr id="27" name="Graphic 26" descr="Hourglass Finished with solid fill">
            <a:extLst>
              <a:ext uri="{FF2B5EF4-FFF2-40B4-BE49-F238E27FC236}">
                <a16:creationId xmlns:a16="http://schemas.microsoft.com/office/drawing/2014/main" id="{5C187621-6205-F54A-43AB-70758DBA5F8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86133" y="2190344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140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E146E-7BAE-1678-07F6-F2A0637BA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A322-1278-66BD-44A1-546430E41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LOD-related outputs</a:t>
            </a:r>
            <a:endParaRPr lang="en-DE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F1FFE1F5-72F3-52E8-1818-531F9CEF83CD}"/>
              </a:ext>
            </a:extLst>
          </p:cNvPr>
          <p:cNvSpPr/>
          <p:nvPr/>
        </p:nvSpPr>
        <p:spPr>
          <a:xfrm>
            <a:off x="838199" y="1301265"/>
            <a:ext cx="10515599" cy="559803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Inheritance of outputs with increasing Level of Detail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4313BA-807C-928A-4277-FF1FE29A8420}"/>
              </a:ext>
            </a:extLst>
          </p:cNvPr>
          <p:cNvSpPr txBox="1"/>
          <p:nvPr/>
        </p:nvSpPr>
        <p:spPr>
          <a:xfrm>
            <a:off x="838200" y="3429000"/>
            <a:ext cx="2696308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Columns:</a:t>
            </a:r>
          </a:p>
          <a:p>
            <a:r>
              <a:rPr lang="en-US" sz="1500" dirty="0">
                <a:solidFill>
                  <a:schemeClr val="accent1"/>
                </a:solidFill>
              </a:rPr>
              <a:t>locality</a:t>
            </a:r>
            <a:r>
              <a:rPr lang="en-US" sz="1500" dirty="0"/>
              <a:t>, </a:t>
            </a:r>
            <a:r>
              <a:rPr lang="en-US" sz="1500" dirty="0">
                <a:solidFill>
                  <a:schemeClr val="accent1"/>
                </a:solidFill>
              </a:rPr>
              <a:t>country</a:t>
            </a:r>
            <a:r>
              <a:rPr lang="en-US" sz="1500" dirty="0"/>
              <a:t>, </a:t>
            </a:r>
            <a:r>
              <a:rPr lang="en-US" sz="1500" dirty="0">
                <a:solidFill>
                  <a:schemeClr val="accent1"/>
                </a:solidFill>
              </a:rPr>
              <a:t>continent</a:t>
            </a:r>
            <a:r>
              <a:rPr lang="en-US" sz="1500" dirty="0"/>
              <a:t>, </a:t>
            </a:r>
            <a:r>
              <a:rPr lang="en-US" sz="1500" dirty="0">
                <a:solidFill>
                  <a:schemeClr val="accent1"/>
                </a:solidFill>
              </a:rPr>
              <a:t>subcontinent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1"/>
                </a:solidFill>
              </a:rPr>
              <a:t>locality_type</a:t>
            </a:r>
            <a:r>
              <a:rPr lang="en-US" sz="1500" dirty="0"/>
              <a:t>, </a:t>
            </a:r>
            <a:br>
              <a:rPr lang="en-US" sz="1500" dirty="0"/>
            </a:br>
            <a:r>
              <a:rPr lang="en-US" sz="1500" dirty="0">
                <a:solidFill>
                  <a:schemeClr val="accent6"/>
                </a:solidFill>
              </a:rPr>
              <a:t>x</a:t>
            </a:r>
            <a:r>
              <a:rPr lang="en-US" sz="1500" dirty="0"/>
              <a:t>, </a:t>
            </a:r>
            <a:r>
              <a:rPr lang="en-US" sz="1500" dirty="0">
                <a:solidFill>
                  <a:schemeClr val="accent6"/>
                </a:solidFill>
              </a:rPr>
              <a:t>y</a:t>
            </a:r>
            <a:r>
              <a:rPr lang="en-US" sz="1500" dirty="0"/>
              <a:t>;</a:t>
            </a:r>
            <a:endParaRPr lang="en-DE" sz="15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22A2CF-1027-8C3F-1195-7EC4CF0DAEAC}"/>
              </a:ext>
            </a:extLst>
          </p:cNvPr>
          <p:cNvSpPr txBox="1"/>
          <p:nvPr/>
        </p:nvSpPr>
        <p:spPr>
          <a:xfrm>
            <a:off x="4747845" y="3429000"/>
            <a:ext cx="2696308" cy="33701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Columns:</a:t>
            </a:r>
          </a:p>
          <a:p>
            <a:r>
              <a:rPr lang="en-US" sz="1500" i="1" dirty="0"/>
              <a:t>All from locality plus</a:t>
            </a:r>
          </a:p>
          <a:p>
            <a:r>
              <a:rPr lang="en-US" sz="1500" dirty="0" err="1">
                <a:solidFill>
                  <a:schemeClr val="accent1"/>
                </a:solidFill>
              </a:rPr>
              <a:t>assemblage_name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1"/>
                </a:solidFill>
              </a:rPr>
              <a:t>assemblage_id</a:t>
            </a:r>
            <a:r>
              <a:rPr lang="en-US" sz="1500" dirty="0"/>
              <a:t>, </a:t>
            </a:r>
            <a:r>
              <a:rPr lang="en-US" sz="1500" dirty="0">
                <a:solidFill>
                  <a:schemeClr val="accent2"/>
                </a:solidFill>
              </a:rPr>
              <a:t>technology</a:t>
            </a:r>
            <a:r>
              <a:rPr lang="en-US" sz="1500" dirty="0"/>
              <a:t>, </a:t>
            </a:r>
            <a:r>
              <a:rPr lang="en-US" sz="1500" dirty="0">
                <a:solidFill>
                  <a:schemeClr val="accent2"/>
                </a:solidFill>
              </a:rPr>
              <a:t>typology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2"/>
                </a:solidFill>
              </a:rPr>
              <a:t>raw_material</a:t>
            </a:r>
            <a:r>
              <a:rPr lang="en-US" sz="1500" dirty="0"/>
              <a:t>, </a:t>
            </a:r>
            <a:r>
              <a:rPr lang="en-US" sz="1500" dirty="0">
                <a:solidFill>
                  <a:schemeClr val="accent2"/>
                </a:solidFill>
              </a:rPr>
              <a:t>function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2"/>
                </a:solidFill>
              </a:rPr>
              <a:t>miscelaneous_finds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2"/>
                </a:solidFill>
              </a:rPr>
              <a:t>organic_tools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2"/>
                </a:solidFill>
              </a:rPr>
              <a:t>symbolic_artifacts</a:t>
            </a:r>
            <a:r>
              <a:rPr lang="en-US" sz="1500" dirty="0"/>
              <a:t>, </a:t>
            </a:r>
            <a:r>
              <a:rPr lang="en-US" sz="1500" dirty="0">
                <a:solidFill>
                  <a:schemeClr val="accent2"/>
                </a:solidFill>
              </a:rPr>
              <a:t>feature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2"/>
                </a:solidFill>
              </a:rPr>
              <a:t>animal_remains</a:t>
            </a:r>
            <a:r>
              <a:rPr lang="en-US" sz="1500" dirty="0"/>
              <a:t>, </a:t>
            </a:r>
            <a:r>
              <a:rPr lang="en-US" sz="1500" dirty="0">
                <a:solidFill>
                  <a:schemeClr val="accent2"/>
                </a:solidFill>
              </a:rPr>
              <a:t>paleofauna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2"/>
                </a:solidFill>
              </a:rPr>
              <a:t>plant_remains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2"/>
                </a:solidFill>
              </a:rPr>
              <a:t>human_remains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6"/>
                </a:solidFill>
              </a:rPr>
              <a:t>synthesized_age_min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6"/>
                </a:solidFill>
              </a:rPr>
              <a:t>synthesized_age_max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5"/>
                </a:solidFill>
              </a:rPr>
              <a:t>geolayer</a:t>
            </a:r>
            <a:r>
              <a:rPr lang="en-US" sz="1500" dirty="0">
                <a:solidFill>
                  <a:schemeClr val="accent5"/>
                </a:solidFill>
              </a:rPr>
              <a:t>, </a:t>
            </a:r>
            <a:r>
              <a:rPr lang="en-US" sz="1500" dirty="0" err="1">
                <a:solidFill>
                  <a:schemeClr val="accent5"/>
                </a:solidFill>
              </a:rPr>
              <a:t>archaeoleayer</a:t>
            </a:r>
            <a:r>
              <a:rPr lang="en-US" sz="1500" dirty="0">
                <a:solidFill>
                  <a:schemeClr val="accent5"/>
                </a:solidFill>
              </a:rPr>
              <a:t>;</a:t>
            </a:r>
            <a:endParaRPr lang="en-DE" sz="15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A127FC-71F0-46B2-1297-62F07F2D9823}"/>
              </a:ext>
            </a:extLst>
          </p:cNvPr>
          <p:cNvSpPr txBox="1"/>
          <p:nvPr/>
        </p:nvSpPr>
        <p:spPr>
          <a:xfrm>
            <a:off x="8657490" y="3429000"/>
            <a:ext cx="269630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Columns:</a:t>
            </a:r>
          </a:p>
          <a:p>
            <a:r>
              <a:rPr lang="en-US" sz="1500" i="1" dirty="0"/>
              <a:t>Some from assemblage plus</a:t>
            </a:r>
            <a:endParaRPr lang="en-US" sz="1500" dirty="0"/>
          </a:p>
          <a:p>
            <a:r>
              <a:rPr lang="en-US" sz="1500" dirty="0">
                <a:solidFill>
                  <a:schemeClr val="accent6"/>
                </a:solidFill>
              </a:rPr>
              <a:t>age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6"/>
                </a:solidFill>
              </a:rPr>
              <a:t>age_stdev_plus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6"/>
                </a:solidFill>
              </a:rPr>
              <a:t>age_stdev_minus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1"/>
                </a:solidFill>
              </a:rPr>
              <a:t>dating_method</a:t>
            </a:r>
            <a:r>
              <a:rPr lang="en-US" sz="1500" dirty="0"/>
              <a:t>, </a:t>
            </a:r>
            <a:r>
              <a:rPr lang="en-US" sz="1500" dirty="0">
                <a:solidFill>
                  <a:schemeClr val="accent1"/>
                </a:solidFill>
              </a:rPr>
              <a:t>material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1"/>
                </a:solidFill>
              </a:rPr>
              <a:t>lab_number</a:t>
            </a:r>
            <a:r>
              <a:rPr lang="en-US" sz="1500" dirty="0">
                <a:solidFill>
                  <a:schemeClr val="accent1"/>
                </a:solidFill>
              </a:rPr>
              <a:t>, lab</a:t>
            </a:r>
            <a:r>
              <a:rPr lang="en-US" sz="1500" dirty="0"/>
              <a:t>, </a:t>
            </a:r>
            <a:r>
              <a:rPr lang="en-US" sz="1500" dirty="0">
                <a:solidFill>
                  <a:schemeClr val="accent6"/>
                </a:solidFill>
              </a:rPr>
              <a:t>y</a:t>
            </a:r>
            <a:r>
              <a:rPr lang="en-US" sz="1500" dirty="0"/>
              <a:t>, </a:t>
            </a:r>
            <a:r>
              <a:rPr lang="en-US" sz="1500" dirty="0" err="1">
                <a:solidFill>
                  <a:schemeClr val="accent1"/>
                </a:solidFill>
              </a:rPr>
              <a:t>geolayer</a:t>
            </a:r>
            <a:r>
              <a:rPr lang="en-US" sz="1500" dirty="0">
                <a:solidFill>
                  <a:schemeClr val="accent1"/>
                </a:solidFill>
              </a:rPr>
              <a:t>, </a:t>
            </a:r>
            <a:r>
              <a:rPr lang="en-US" sz="1500" dirty="0" err="1">
                <a:solidFill>
                  <a:schemeClr val="accent1"/>
                </a:solidFill>
              </a:rPr>
              <a:t>archaeolayer</a:t>
            </a:r>
            <a:r>
              <a:rPr lang="en-US" sz="1500" dirty="0"/>
              <a:t>;</a:t>
            </a:r>
          </a:p>
          <a:p>
            <a:endParaRPr lang="en-US" i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D77C82-9715-EC46-7088-1789BE4D957A}"/>
              </a:ext>
            </a:extLst>
          </p:cNvPr>
          <p:cNvSpPr txBox="1"/>
          <p:nvPr/>
        </p:nvSpPr>
        <p:spPr>
          <a:xfrm>
            <a:off x="0" y="5688449"/>
            <a:ext cx="1429366" cy="116955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Color key: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Character string</a:t>
            </a:r>
          </a:p>
          <a:p>
            <a:r>
              <a:rPr lang="en-US" sz="1400" dirty="0">
                <a:solidFill>
                  <a:schemeClr val="accent6"/>
                </a:solidFill>
              </a:rPr>
              <a:t>Numeric</a:t>
            </a:r>
          </a:p>
          <a:p>
            <a:r>
              <a:rPr lang="en-US" sz="1400" dirty="0">
                <a:solidFill>
                  <a:schemeClr val="accent2"/>
                </a:solidFill>
              </a:rPr>
              <a:t>Boolean</a:t>
            </a:r>
          </a:p>
          <a:p>
            <a:r>
              <a:rPr lang="en-US" sz="1400" dirty="0">
                <a:solidFill>
                  <a:schemeClr val="accent5"/>
                </a:solidFill>
              </a:rPr>
              <a:t>List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83C33BA-D3D5-1330-6B56-EF3816044774}"/>
              </a:ext>
            </a:extLst>
          </p:cNvPr>
          <p:cNvSpPr/>
          <p:nvPr/>
        </p:nvSpPr>
        <p:spPr>
          <a:xfrm>
            <a:off x="838200" y="1957756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Locality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road_get_localities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sz="1400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B7C140D-A8BF-1B91-F6B4-182C760F749F}"/>
              </a:ext>
            </a:extLst>
          </p:cNvPr>
          <p:cNvSpPr/>
          <p:nvPr/>
        </p:nvSpPr>
        <p:spPr>
          <a:xfrm>
            <a:off x="4747846" y="1957756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Assemblage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400" dirty="0" err="1">
                <a:solidFill>
                  <a:schemeClr val="tx1"/>
                </a:solidFill>
              </a:rPr>
              <a:t>road_get_assemblages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245958-71B2-30EB-5CB6-138AC1491212}"/>
              </a:ext>
            </a:extLst>
          </p:cNvPr>
          <p:cNvSpPr/>
          <p:nvPr/>
        </p:nvSpPr>
        <p:spPr>
          <a:xfrm>
            <a:off x="8657492" y="1957756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Date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400" dirty="0" err="1">
                <a:solidFill>
                  <a:schemeClr val="tx1"/>
                </a:solidFill>
              </a:rPr>
              <a:t>road_get_dates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EF299C4-1F55-93C3-E792-A7DF7F528E94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3534508" y="2497018"/>
            <a:ext cx="12133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27A024E-ECFE-A086-7D2F-644ECA0B6231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7444154" y="2497018"/>
            <a:ext cx="12133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Layers Design with solid fill">
            <a:extLst>
              <a:ext uri="{FF2B5EF4-FFF2-40B4-BE49-F238E27FC236}">
                <a16:creationId xmlns:a16="http://schemas.microsoft.com/office/drawing/2014/main" id="{93790E32-2DEB-4E17-1BF8-7D345255F4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5367" y="2149591"/>
            <a:ext cx="432000" cy="432000"/>
          </a:xfrm>
          <a:prstGeom prst="rect">
            <a:avLst/>
          </a:prstGeom>
        </p:spPr>
      </p:pic>
      <p:pic>
        <p:nvPicPr>
          <p:cNvPr id="25" name="Graphic 24" descr="Marker with solid fill">
            <a:extLst>
              <a:ext uri="{FF2B5EF4-FFF2-40B4-BE49-F238E27FC236}">
                <a16:creationId xmlns:a16="http://schemas.microsoft.com/office/drawing/2014/main" id="{C8123CBC-3550-E2DB-4728-E8D00091D3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96014" y="2149591"/>
            <a:ext cx="432000" cy="432000"/>
          </a:xfrm>
          <a:prstGeom prst="rect">
            <a:avLst/>
          </a:prstGeom>
        </p:spPr>
      </p:pic>
      <p:pic>
        <p:nvPicPr>
          <p:cNvPr id="26" name="Graphic 25" descr="Hourglass Finished with solid fill">
            <a:extLst>
              <a:ext uri="{FF2B5EF4-FFF2-40B4-BE49-F238E27FC236}">
                <a16:creationId xmlns:a16="http://schemas.microsoft.com/office/drawing/2014/main" id="{B70D7F0F-72E3-E442-F5A6-8362C556D6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86133" y="2190344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776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7A581-C4E7-D5E0-5D83-999057C96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557D1-4688-4F90-CF24-2EFE8B7CD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LOD-related arguments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F60BACAC-6312-7E99-09DE-D68EAC174191}"/>
              </a:ext>
            </a:extLst>
          </p:cNvPr>
          <p:cNvSpPr/>
          <p:nvPr/>
        </p:nvSpPr>
        <p:spPr>
          <a:xfrm>
            <a:off x="838199" y="1301265"/>
            <a:ext cx="10515599" cy="559803"/>
          </a:xfrm>
          <a:prstGeom prst="left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Inheritance of arguments across all Levels Of Detail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200804-C828-E420-5EDC-46A30AB681B5}"/>
              </a:ext>
            </a:extLst>
          </p:cNvPr>
          <p:cNvSpPr txBox="1"/>
          <p:nvPr/>
        </p:nvSpPr>
        <p:spPr>
          <a:xfrm>
            <a:off x="838200" y="3429000"/>
            <a:ext cx="105155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Arguments:</a:t>
            </a:r>
          </a:p>
          <a:p>
            <a:r>
              <a:rPr lang="en-US" dirty="0">
                <a:solidFill>
                  <a:schemeClr val="accent5"/>
                </a:solidFill>
              </a:rPr>
              <a:t>locality</a:t>
            </a:r>
            <a:r>
              <a:rPr lang="en-US" dirty="0"/>
              <a:t>, </a:t>
            </a:r>
            <a:r>
              <a:rPr lang="en-US" dirty="0">
                <a:solidFill>
                  <a:schemeClr val="accent5"/>
                </a:solidFill>
              </a:rPr>
              <a:t>country</a:t>
            </a:r>
            <a:r>
              <a:rPr lang="en-US" dirty="0"/>
              <a:t>, </a:t>
            </a:r>
            <a:r>
              <a:rPr lang="en-US" dirty="0">
                <a:solidFill>
                  <a:schemeClr val="accent5"/>
                </a:solidFill>
              </a:rPr>
              <a:t>continent</a:t>
            </a:r>
            <a:r>
              <a:rPr lang="en-US" dirty="0"/>
              <a:t>, </a:t>
            </a:r>
            <a:r>
              <a:rPr lang="en-US" dirty="0">
                <a:solidFill>
                  <a:schemeClr val="accent5"/>
                </a:solidFill>
              </a:rPr>
              <a:t>subcontinent</a:t>
            </a:r>
            <a:r>
              <a:rPr lang="en-US" dirty="0"/>
              <a:t>, </a:t>
            </a:r>
            <a:r>
              <a:rPr lang="en-US" dirty="0" err="1">
                <a:solidFill>
                  <a:schemeClr val="accent5"/>
                </a:solidFill>
              </a:rPr>
              <a:t>locality_type</a:t>
            </a:r>
            <a:r>
              <a:rPr lang="en-US" dirty="0"/>
              <a:t>, </a:t>
            </a:r>
            <a:r>
              <a:rPr lang="en-US" sz="1800" dirty="0" err="1">
                <a:solidFill>
                  <a:schemeClr val="accent5"/>
                </a:solidFill>
              </a:rPr>
              <a:t>assemblage_name</a:t>
            </a:r>
            <a:r>
              <a:rPr lang="en-US" sz="1800" dirty="0"/>
              <a:t>, </a:t>
            </a:r>
            <a:r>
              <a:rPr lang="en-US" sz="1800" dirty="0" err="1">
                <a:solidFill>
                  <a:schemeClr val="accent5"/>
                </a:solidFill>
              </a:rPr>
              <a:t>assemblage_id</a:t>
            </a:r>
            <a:r>
              <a:rPr lang="en-US" sz="1800" dirty="0"/>
              <a:t>, </a:t>
            </a:r>
            <a:r>
              <a:rPr lang="en-US" sz="1800" dirty="0">
                <a:solidFill>
                  <a:schemeClr val="accent5"/>
                </a:solidFill>
              </a:rPr>
              <a:t>culture</a:t>
            </a:r>
            <a:r>
              <a:rPr lang="en-US" sz="1800" dirty="0"/>
              <a:t>, </a:t>
            </a:r>
            <a:r>
              <a:rPr lang="en-US" sz="1800" dirty="0" err="1">
                <a:solidFill>
                  <a:schemeClr val="accent5"/>
                </a:solidFill>
              </a:rPr>
              <a:t>cultural_period</a:t>
            </a:r>
            <a:r>
              <a:rPr lang="en-US" sz="1800" dirty="0"/>
              <a:t>, </a:t>
            </a:r>
            <a:r>
              <a:rPr lang="en-US" sz="1800" dirty="0">
                <a:solidFill>
                  <a:schemeClr val="accent5"/>
                </a:solidFill>
              </a:rPr>
              <a:t>technology</a:t>
            </a:r>
            <a:r>
              <a:rPr lang="en-US" sz="1800" dirty="0"/>
              <a:t>, </a:t>
            </a:r>
            <a:r>
              <a:rPr lang="en-US" sz="1800" dirty="0">
                <a:solidFill>
                  <a:schemeClr val="accent5"/>
                </a:solidFill>
              </a:rPr>
              <a:t>typology</a:t>
            </a:r>
            <a:r>
              <a:rPr lang="en-US" sz="1800" dirty="0"/>
              <a:t>, </a:t>
            </a:r>
            <a:r>
              <a:rPr lang="en-US" sz="1800" dirty="0" err="1">
                <a:solidFill>
                  <a:schemeClr val="accent5"/>
                </a:solidFill>
              </a:rPr>
              <a:t>raw_material</a:t>
            </a:r>
            <a:r>
              <a:rPr lang="en-US" sz="1800" dirty="0"/>
              <a:t>, </a:t>
            </a:r>
            <a:r>
              <a:rPr lang="en-US" sz="1800" dirty="0">
                <a:solidFill>
                  <a:schemeClr val="accent5"/>
                </a:solidFill>
              </a:rPr>
              <a:t>function</a:t>
            </a:r>
            <a:r>
              <a:rPr lang="en-US" sz="1800" dirty="0"/>
              <a:t>, </a:t>
            </a:r>
            <a:r>
              <a:rPr lang="en-US" sz="1800" dirty="0" err="1">
                <a:solidFill>
                  <a:schemeClr val="accent5"/>
                </a:solidFill>
              </a:rPr>
              <a:t>miscalaneous_finds</a:t>
            </a:r>
            <a:r>
              <a:rPr lang="en-US" sz="1800" dirty="0"/>
              <a:t>, </a:t>
            </a:r>
            <a:r>
              <a:rPr lang="en-US" sz="1800" dirty="0" err="1">
                <a:solidFill>
                  <a:schemeClr val="accent5"/>
                </a:solidFill>
              </a:rPr>
              <a:t>organic_tools</a:t>
            </a:r>
            <a:r>
              <a:rPr lang="en-US" sz="1800" dirty="0"/>
              <a:t>, </a:t>
            </a:r>
            <a:r>
              <a:rPr lang="en-US" sz="1800" dirty="0" err="1">
                <a:solidFill>
                  <a:schemeClr val="accent5"/>
                </a:solidFill>
              </a:rPr>
              <a:t>symbolic_artifacts</a:t>
            </a:r>
            <a:r>
              <a:rPr lang="en-US" sz="1800" dirty="0"/>
              <a:t>, </a:t>
            </a:r>
            <a:r>
              <a:rPr lang="en-US" sz="1800" dirty="0">
                <a:solidFill>
                  <a:schemeClr val="accent5"/>
                </a:solidFill>
              </a:rPr>
              <a:t>feature</a:t>
            </a:r>
            <a:r>
              <a:rPr lang="en-US" sz="1800" dirty="0"/>
              <a:t>, </a:t>
            </a:r>
            <a:r>
              <a:rPr lang="en-US" sz="1800" dirty="0" err="1">
                <a:solidFill>
                  <a:schemeClr val="accent5"/>
                </a:solidFill>
              </a:rPr>
              <a:t>animal_remains</a:t>
            </a:r>
            <a:r>
              <a:rPr lang="en-US" sz="1800" dirty="0"/>
              <a:t>, </a:t>
            </a:r>
            <a:r>
              <a:rPr lang="en-US" sz="1800" dirty="0" err="1">
                <a:solidFill>
                  <a:schemeClr val="accent5"/>
                </a:solidFill>
              </a:rPr>
              <a:t>plant_remains</a:t>
            </a:r>
            <a:r>
              <a:rPr lang="en-US" sz="1800" dirty="0"/>
              <a:t>, </a:t>
            </a:r>
            <a:r>
              <a:rPr lang="en-US" sz="1800" dirty="0" err="1">
                <a:solidFill>
                  <a:schemeClr val="accent5"/>
                </a:solidFill>
              </a:rPr>
              <a:t>geolayer</a:t>
            </a:r>
            <a:r>
              <a:rPr lang="en-US" sz="1800" dirty="0"/>
              <a:t>, </a:t>
            </a:r>
            <a:r>
              <a:rPr lang="en-US" sz="1800" dirty="0" err="1">
                <a:solidFill>
                  <a:schemeClr val="accent6"/>
                </a:solidFill>
              </a:rPr>
              <a:t>age_min</a:t>
            </a:r>
            <a:r>
              <a:rPr lang="en-US" sz="1800" dirty="0"/>
              <a:t>, </a:t>
            </a:r>
            <a:r>
              <a:rPr lang="en-US" sz="1800" dirty="0" err="1">
                <a:solidFill>
                  <a:schemeClr val="accent6"/>
                </a:solidFill>
              </a:rPr>
              <a:t>age_max</a:t>
            </a:r>
            <a:r>
              <a:rPr lang="en-US" sz="1800" dirty="0"/>
              <a:t>;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8D9342-1505-8E1F-14A3-4BA121E7250E}"/>
              </a:ext>
            </a:extLst>
          </p:cNvPr>
          <p:cNvSpPr txBox="1"/>
          <p:nvPr/>
        </p:nvSpPr>
        <p:spPr>
          <a:xfrm>
            <a:off x="0" y="5688449"/>
            <a:ext cx="1429366" cy="116955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Color key: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Character string</a:t>
            </a:r>
          </a:p>
          <a:p>
            <a:r>
              <a:rPr lang="en-US" sz="1400" dirty="0">
                <a:solidFill>
                  <a:schemeClr val="accent6"/>
                </a:solidFill>
              </a:rPr>
              <a:t>Numeric</a:t>
            </a:r>
          </a:p>
          <a:p>
            <a:r>
              <a:rPr lang="en-US" sz="1400" dirty="0">
                <a:solidFill>
                  <a:schemeClr val="accent2"/>
                </a:solidFill>
              </a:rPr>
              <a:t>Boolean</a:t>
            </a:r>
          </a:p>
          <a:p>
            <a:r>
              <a:rPr lang="en-US" sz="1400" dirty="0">
                <a:solidFill>
                  <a:schemeClr val="accent5"/>
                </a:solidFill>
              </a:rPr>
              <a:t>List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CA55825-769B-1D16-2DA1-90F7182C6CF9}"/>
              </a:ext>
            </a:extLst>
          </p:cNvPr>
          <p:cNvSpPr/>
          <p:nvPr/>
        </p:nvSpPr>
        <p:spPr>
          <a:xfrm>
            <a:off x="838200" y="1957756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Locality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road_get_localities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sz="14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BCFCC0-4456-917A-95A1-4E2983AA057E}"/>
              </a:ext>
            </a:extLst>
          </p:cNvPr>
          <p:cNvSpPr/>
          <p:nvPr/>
        </p:nvSpPr>
        <p:spPr>
          <a:xfrm>
            <a:off x="4747846" y="1957756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Assemblage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400" dirty="0" err="1">
                <a:solidFill>
                  <a:schemeClr val="tx1"/>
                </a:solidFill>
              </a:rPr>
              <a:t>road_get_assemblages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9655F6B-20A2-DF34-2745-5E9E5844377C}"/>
              </a:ext>
            </a:extLst>
          </p:cNvPr>
          <p:cNvSpPr/>
          <p:nvPr/>
        </p:nvSpPr>
        <p:spPr>
          <a:xfrm>
            <a:off x="8657492" y="1957756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Date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400" dirty="0" err="1">
                <a:solidFill>
                  <a:schemeClr val="tx1"/>
                </a:solidFill>
              </a:rPr>
              <a:t>road_get_dates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6433E44-58D6-A104-43BB-81EA911AF6E2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3534508" y="2497018"/>
            <a:ext cx="12133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498FF9C-0C06-6369-CBD9-1D196CF979C5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7444154" y="2497018"/>
            <a:ext cx="12133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Graphic 24" descr="Layers Design with solid fill">
            <a:extLst>
              <a:ext uri="{FF2B5EF4-FFF2-40B4-BE49-F238E27FC236}">
                <a16:creationId xmlns:a16="http://schemas.microsoft.com/office/drawing/2014/main" id="{3CD5F279-CD41-C119-6DB8-146CF32F56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5367" y="2149591"/>
            <a:ext cx="432000" cy="432000"/>
          </a:xfrm>
          <a:prstGeom prst="rect">
            <a:avLst/>
          </a:prstGeom>
        </p:spPr>
      </p:pic>
      <p:pic>
        <p:nvPicPr>
          <p:cNvPr id="26" name="Graphic 25" descr="Marker with solid fill">
            <a:extLst>
              <a:ext uri="{FF2B5EF4-FFF2-40B4-BE49-F238E27FC236}">
                <a16:creationId xmlns:a16="http://schemas.microsoft.com/office/drawing/2014/main" id="{AE25D0F4-BDFE-30DF-DB34-9EBFD47536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96014" y="2149591"/>
            <a:ext cx="432000" cy="432000"/>
          </a:xfrm>
          <a:prstGeom prst="rect">
            <a:avLst/>
          </a:prstGeom>
        </p:spPr>
      </p:pic>
      <p:pic>
        <p:nvPicPr>
          <p:cNvPr id="27" name="Graphic 26" descr="Hourglass Finished with solid fill">
            <a:extLst>
              <a:ext uri="{FF2B5EF4-FFF2-40B4-BE49-F238E27FC236}">
                <a16:creationId xmlns:a16="http://schemas.microsoft.com/office/drawing/2014/main" id="{A41E36FC-654B-BE48-6980-242377998D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86133" y="2190344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0619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B6F29-9B2D-A2B0-AA3D-45BCF4D1D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0E6E4-D2B6-7016-9383-61279816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extending LOD Assemblage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DA3EBF2-3F02-9F78-34B8-05A900BB2830}"/>
              </a:ext>
            </a:extLst>
          </p:cNvPr>
          <p:cNvSpPr/>
          <p:nvPr/>
        </p:nvSpPr>
        <p:spPr>
          <a:xfrm>
            <a:off x="276727" y="3582687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Human remains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400" dirty="0" err="1">
                <a:solidFill>
                  <a:schemeClr val="tx1"/>
                </a:solidFill>
              </a:rPr>
              <a:t>road_get_human_remains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sz="1400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A5ACD63-3EF6-C5B6-231B-06177005C0CE}"/>
              </a:ext>
            </a:extLst>
          </p:cNvPr>
          <p:cNvSpPr/>
          <p:nvPr/>
        </p:nvSpPr>
        <p:spPr>
          <a:xfrm>
            <a:off x="838200" y="1957756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Locality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road_get_localities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sz="1400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F4EE58F-B471-5D25-E275-B8261BD8389B}"/>
              </a:ext>
            </a:extLst>
          </p:cNvPr>
          <p:cNvSpPr/>
          <p:nvPr/>
        </p:nvSpPr>
        <p:spPr>
          <a:xfrm>
            <a:off x="4747846" y="1957756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Assemblage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400" dirty="0" err="1">
                <a:solidFill>
                  <a:schemeClr val="tx1"/>
                </a:solidFill>
              </a:rPr>
              <a:t>road_get_assemblages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644E08-AD6E-4ED4-3372-0BFA14660236}"/>
              </a:ext>
            </a:extLst>
          </p:cNvPr>
          <p:cNvSpPr/>
          <p:nvPr/>
        </p:nvSpPr>
        <p:spPr>
          <a:xfrm>
            <a:off x="8657492" y="1957756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Date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400" dirty="0" err="1">
                <a:solidFill>
                  <a:schemeClr val="tx1"/>
                </a:solidFill>
              </a:rPr>
              <a:t>road_get_dates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A5B5421-40B1-310A-7A1C-DD94D9A0B11B}"/>
              </a:ext>
            </a:extLst>
          </p:cNvPr>
          <p:cNvCxnSpPr>
            <a:stCxn id="26" idx="3"/>
            <a:endCxn id="27" idx="1"/>
          </p:cNvCxnSpPr>
          <p:nvPr/>
        </p:nvCxnSpPr>
        <p:spPr>
          <a:xfrm>
            <a:off x="3534508" y="2497018"/>
            <a:ext cx="12133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E9B9162-F0E9-E4FE-BE87-C7182E88F7D9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7444154" y="2497018"/>
            <a:ext cx="12133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" name="Graphic 30" descr="Layers Design with solid fill">
            <a:extLst>
              <a:ext uri="{FF2B5EF4-FFF2-40B4-BE49-F238E27FC236}">
                <a16:creationId xmlns:a16="http://schemas.microsoft.com/office/drawing/2014/main" id="{9F67A278-5313-A341-A549-695DC84DC0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5367" y="2149591"/>
            <a:ext cx="432000" cy="432000"/>
          </a:xfrm>
          <a:prstGeom prst="rect">
            <a:avLst/>
          </a:prstGeom>
        </p:spPr>
      </p:pic>
      <p:pic>
        <p:nvPicPr>
          <p:cNvPr id="32" name="Graphic 31" descr="Marker with solid fill">
            <a:extLst>
              <a:ext uri="{FF2B5EF4-FFF2-40B4-BE49-F238E27FC236}">
                <a16:creationId xmlns:a16="http://schemas.microsoft.com/office/drawing/2014/main" id="{33F6529C-8E23-3198-3447-17D0DF0F8E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96014" y="2149591"/>
            <a:ext cx="432000" cy="432000"/>
          </a:xfrm>
          <a:prstGeom prst="rect">
            <a:avLst/>
          </a:prstGeom>
        </p:spPr>
      </p:pic>
      <p:pic>
        <p:nvPicPr>
          <p:cNvPr id="33" name="Graphic 32" descr="Hourglass Finished with solid fill">
            <a:extLst>
              <a:ext uri="{FF2B5EF4-FFF2-40B4-BE49-F238E27FC236}">
                <a16:creationId xmlns:a16="http://schemas.microsoft.com/office/drawing/2014/main" id="{AF266A6B-96AA-46F0-398C-8B45EE896C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86133" y="2190344"/>
            <a:ext cx="360000" cy="36000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51301AB1-E5A3-EE19-B3BC-F990102F2A68}"/>
              </a:ext>
            </a:extLst>
          </p:cNvPr>
          <p:cNvSpPr/>
          <p:nvPr/>
        </p:nvSpPr>
        <p:spPr>
          <a:xfrm>
            <a:off x="3257473" y="3582686"/>
            <a:ext cx="2696308" cy="20394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Archaeology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road_get_lithic_typology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road_get_lithic_raw_material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road_get_organic_tools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road_get_symbolic_artifacts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road_get_feature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road_get</a:t>
            </a:r>
            <a:r>
              <a:rPr lang="en-US" sz="1400" err="1">
                <a:solidFill>
                  <a:schemeClr val="tx1"/>
                </a:solidFill>
              </a:rPr>
              <a:t>_</a:t>
            </a:r>
            <a:r>
              <a:rPr lang="en-US" sz="1400">
                <a:solidFill>
                  <a:schemeClr val="tx1"/>
                </a:solidFill>
              </a:rPr>
              <a:t>miscellaneous</a:t>
            </a:r>
            <a:r>
              <a:rPr lang="en-US" sz="1400" dirty="0" err="1">
                <a:solidFill>
                  <a:schemeClr val="tx1"/>
                </a:solidFill>
              </a:rPr>
              <a:t>_finds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sz="1400" dirty="0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5A5B92A-49B8-73EC-55BA-7AE7BBD4F0BD}"/>
              </a:ext>
            </a:extLst>
          </p:cNvPr>
          <p:cNvSpPr/>
          <p:nvPr/>
        </p:nvSpPr>
        <p:spPr>
          <a:xfrm>
            <a:off x="9218965" y="3582687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Paleobotany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400" dirty="0" err="1">
                <a:solidFill>
                  <a:schemeClr val="tx1"/>
                </a:solidFill>
              </a:rPr>
              <a:t>road_get_paleobotany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E35E667-157C-674C-C4EB-E409799FE23D}"/>
              </a:ext>
            </a:extLst>
          </p:cNvPr>
          <p:cNvSpPr/>
          <p:nvPr/>
        </p:nvSpPr>
        <p:spPr>
          <a:xfrm>
            <a:off x="6238219" y="3582687"/>
            <a:ext cx="2696308" cy="10785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Paleofauna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400" dirty="0" err="1">
                <a:solidFill>
                  <a:schemeClr val="tx1"/>
                </a:solidFill>
              </a:rPr>
              <a:t>road_get_paleofauna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C85B6DB5-216B-4EF6-4EFF-D79CC0A6A8B5}"/>
              </a:ext>
            </a:extLst>
          </p:cNvPr>
          <p:cNvCxnSpPr>
            <a:stCxn id="27" idx="2"/>
            <a:endCxn id="14" idx="0"/>
          </p:cNvCxnSpPr>
          <p:nvPr/>
        </p:nvCxnSpPr>
        <p:spPr>
          <a:xfrm rot="5400000">
            <a:off x="3587238" y="1073924"/>
            <a:ext cx="546407" cy="447111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38A8A226-3AA0-140E-8DB8-B49A124BE11A}"/>
              </a:ext>
            </a:extLst>
          </p:cNvPr>
          <p:cNvCxnSpPr>
            <a:cxnSpLocks/>
            <a:stCxn id="27" idx="2"/>
            <a:endCxn id="34" idx="0"/>
          </p:cNvCxnSpPr>
          <p:nvPr/>
        </p:nvCxnSpPr>
        <p:spPr>
          <a:xfrm rot="5400000">
            <a:off x="5077611" y="2564297"/>
            <a:ext cx="546406" cy="149037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7604B3BD-FB4B-A094-B5C8-98999BDD4748}"/>
              </a:ext>
            </a:extLst>
          </p:cNvPr>
          <p:cNvCxnSpPr>
            <a:cxnSpLocks/>
            <a:stCxn id="27" idx="2"/>
            <a:endCxn id="36" idx="0"/>
          </p:cNvCxnSpPr>
          <p:nvPr/>
        </p:nvCxnSpPr>
        <p:spPr>
          <a:xfrm rot="16200000" flipH="1">
            <a:off x="6567983" y="2564296"/>
            <a:ext cx="546407" cy="149037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26D33EC-C1DF-8EDE-26D9-B12488D7DE0D}"/>
              </a:ext>
            </a:extLst>
          </p:cNvPr>
          <p:cNvCxnSpPr>
            <a:cxnSpLocks/>
            <a:stCxn id="27" idx="2"/>
            <a:endCxn id="35" idx="0"/>
          </p:cNvCxnSpPr>
          <p:nvPr/>
        </p:nvCxnSpPr>
        <p:spPr>
          <a:xfrm rot="16200000" flipH="1">
            <a:off x="8058356" y="1073923"/>
            <a:ext cx="546407" cy="44711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363C51BD-3B4C-3B13-6F2B-7AA7247C084E}"/>
              </a:ext>
            </a:extLst>
          </p:cNvPr>
          <p:cNvSpPr txBox="1"/>
          <p:nvPr/>
        </p:nvSpPr>
        <p:spPr>
          <a:xfrm>
            <a:off x="276726" y="4744938"/>
            <a:ext cx="2696308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Columns:</a:t>
            </a:r>
          </a:p>
          <a:p>
            <a:r>
              <a:rPr lang="en-US" sz="1500" i="1" dirty="0"/>
              <a:t>Some from assemblage plus</a:t>
            </a:r>
            <a:endParaRPr lang="en-US" sz="1500" dirty="0"/>
          </a:p>
          <a:p>
            <a:r>
              <a:rPr lang="en-US" i="1" dirty="0"/>
              <a:t>…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E18332-0987-38CD-C1A6-6DB1C2F08D98}"/>
              </a:ext>
            </a:extLst>
          </p:cNvPr>
          <p:cNvSpPr txBox="1"/>
          <p:nvPr/>
        </p:nvSpPr>
        <p:spPr>
          <a:xfrm>
            <a:off x="3257473" y="5729923"/>
            <a:ext cx="2696308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Columns:</a:t>
            </a:r>
          </a:p>
          <a:p>
            <a:r>
              <a:rPr lang="en-US" sz="1500" i="1" dirty="0"/>
              <a:t>Some from assemblage plus</a:t>
            </a:r>
            <a:endParaRPr lang="en-US" sz="1500" dirty="0"/>
          </a:p>
          <a:p>
            <a:r>
              <a:rPr lang="en-US" i="1" dirty="0"/>
              <a:t>…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A22B88D-990C-14EB-E604-47F5F089F6BE}"/>
              </a:ext>
            </a:extLst>
          </p:cNvPr>
          <p:cNvSpPr txBox="1"/>
          <p:nvPr/>
        </p:nvSpPr>
        <p:spPr>
          <a:xfrm>
            <a:off x="6238219" y="4744938"/>
            <a:ext cx="2696308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Columns:</a:t>
            </a:r>
          </a:p>
          <a:p>
            <a:r>
              <a:rPr lang="en-US" sz="1500" i="1" dirty="0"/>
              <a:t>Some from assemblage plus</a:t>
            </a:r>
            <a:endParaRPr lang="en-US" sz="1500" dirty="0"/>
          </a:p>
          <a:p>
            <a:r>
              <a:rPr lang="en-US" i="1" dirty="0"/>
              <a:t>…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D709AE-D2C1-9072-3EDA-D7DC2716F808}"/>
              </a:ext>
            </a:extLst>
          </p:cNvPr>
          <p:cNvSpPr txBox="1"/>
          <p:nvPr/>
        </p:nvSpPr>
        <p:spPr>
          <a:xfrm>
            <a:off x="9218965" y="4744937"/>
            <a:ext cx="2696308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Columns:</a:t>
            </a:r>
          </a:p>
          <a:p>
            <a:r>
              <a:rPr lang="en-US" sz="1500" i="1" dirty="0"/>
              <a:t>Some from assemblage plus</a:t>
            </a:r>
            <a:endParaRPr lang="en-US" sz="1500" dirty="0"/>
          </a:p>
          <a:p>
            <a:r>
              <a:rPr lang="en-US" i="1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931675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DFB3000-181E-9A7E-9C05-71C87554D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42D8F7-5F89-B586-F054-6E0A51EBE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504165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7C71F2F-129F-7804-A476-B72A202AC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road_get_localities</a:t>
            </a:r>
            <a:r>
              <a:rPr lang="en-US" dirty="0"/>
              <a:t>()</a:t>
            </a:r>
            <a:endParaRPr lang="en-DE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B134FA-60BA-B52C-D29C-B29FD7C6FA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7F3AAE-C79F-2D3D-D0B3-DC148D632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652" y="2300844"/>
            <a:ext cx="7668695" cy="340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839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1011</Words>
  <Application>Microsoft Office PowerPoint</Application>
  <PresentationFormat>Widescreen</PresentationFormat>
  <Paragraphs>140</Paragraphs>
  <Slides>10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Consolas</vt:lpstr>
      <vt:lpstr>Lato</vt:lpstr>
      <vt:lpstr>Office Theme</vt:lpstr>
      <vt:lpstr>Aims</vt:lpstr>
      <vt:lpstr>Use case: spatial analysis</vt:lpstr>
      <vt:lpstr>Use case: temporal analysis</vt:lpstr>
      <vt:lpstr>PowerPoint Presentation</vt:lpstr>
      <vt:lpstr>LOD-related inheritance</vt:lpstr>
      <vt:lpstr>LOD-related outputs</vt:lpstr>
      <vt:lpstr>LOD-related arguments</vt:lpstr>
      <vt:lpstr>Functions extending LOD Assemblage</vt:lpstr>
      <vt:lpstr>Examples</vt:lpstr>
      <vt:lpstr>road_get_localities()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Aims</dc:title>
  <dc:creator>Christian Sommer</dc:creator>
  <cp:lastModifiedBy>Christian Sommer</cp:lastModifiedBy>
  <cp:revision>144</cp:revision>
  <dcterms:created xsi:type="dcterms:W3CDTF">2024-12-02T11:18:14Z</dcterms:created>
  <dcterms:modified xsi:type="dcterms:W3CDTF">2026-02-05T10:31:12Z</dcterms:modified>
</cp:coreProperties>
</file>